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3dc76e11b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3dc76e11b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3dc76e11b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3dc76e11b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3dc76e11b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3dc76e11b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b3dc76e11b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b3dc76e11b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3dc76e11b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3dc76e11b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3dc76e11b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3dc76e11b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3dc76e11b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b3dc76e11b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3dc76e11b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3dc76e11b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3dc76e11b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3dc76e11b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b3dc76e11b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b3dc76e11b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3dc76e11b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b3dc76e11b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b3dc76e11b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b3dc76e11b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3dc76e11b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3dc76e11b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3dc76e11b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3dc76e11b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3153725"/>
            <a:ext cx="8520600" cy="2616600"/>
          </a:xfrm>
          <a:prstGeom prst="rect">
            <a:avLst/>
          </a:prstGeom>
        </p:spPr>
        <p:txBody>
          <a:bodyPr anchorCtr="0" anchor="b" bIns="91425" lIns="91425" spcFirstLastPara="1" rIns="91425" wrap="square" tIns="91425">
            <a:spAutoFit/>
          </a:bodyPr>
          <a:lstStyle/>
          <a:p>
            <a:pPr indent="0" lvl="0" marL="0" rtl="0" algn="ctr">
              <a:lnSpc>
                <a:spcPct val="100000"/>
              </a:lnSpc>
              <a:spcBef>
                <a:spcPts val="1800"/>
              </a:spcBef>
              <a:spcAft>
                <a:spcPts val="0"/>
              </a:spcAft>
              <a:buClr>
                <a:schemeClr val="dk1"/>
              </a:buClr>
              <a:buSzPts val="1100"/>
              <a:buFont typeface="Arial"/>
              <a:buNone/>
            </a:pPr>
            <a:r>
              <a:rPr b="1" lang="tr" sz="1400">
                <a:latin typeface="Times New Roman"/>
                <a:ea typeface="Times New Roman"/>
                <a:cs typeface="Times New Roman"/>
                <a:sym typeface="Times New Roman"/>
              </a:rPr>
              <a:t>Cyber Security</a:t>
            </a:r>
            <a:endParaRPr b="1" sz="1400">
              <a:latin typeface="Times New Roman"/>
              <a:ea typeface="Times New Roman"/>
              <a:cs typeface="Times New Roman"/>
              <a:sym typeface="Times New Roman"/>
            </a:endParaRPr>
          </a:p>
          <a:p>
            <a:pPr indent="0" lvl="0" marL="0" rtl="0" algn="ctr">
              <a:lnSpc>
                <a:spcPct val="100000"/>
              </a:lnSpc>
              <a:spcBef>
                <a:spcPts val="1800"/>
              </a:spcBef>
              <a:spcAft>
                <a:spcPts val="0"/>
              </a:spcAft>
              <a:buClr>
                <a:schemeClr val="dk1"/>
              </a:buClr>
              <a:buSzPts val="1100"/>
              <a:buFont typeface="Arial"/>
              <a:buNone/>
            </a:pPr>
            <a:r>
              <a:rPr b="1" lang="tr" sz="1400">
                <a:latin typeface="Times New Roman"/>
                <a:ea typeface="Times New Roman"/>
                <a:cs typeface="Times New Roman"/>
                <a:sym typeface="Times New Roman"/>
              </a:rPr>
              <a:t>IoT Honeypot ve Botnet Analizi</a:t>
            </a:r>
            <a:endParaRPr b="1" sz="1400">
              <a:latin typeface="Times New Roman"/>
              <a:ea typeface="Times New Roman"/>
              <a:cs typeface="Times New Roman"/>
              <a:sym typeface="Times New Roman"/>
            </a:endParaRPr>
          </a:p>
          <a:p>
            <a:pPr indent="0" lvl="0" marL="0" rtl="0" algn="ctr">
              <a:lnSpc>
                <a:spcPct val="100000"/>
              </a:lnSpc>
              <a:spcBef>
                <a:spcPts val="1800"/>
              </a:spcBef>
              <a:spcAft>
                <a:spcPts val="0"/>
              </a:spcAft>
              <a:buClr>
                <a:schemeClr val="dk1"/>
              </a:buClr>
              <a:buSzPts val="1100"/>
              <a:buFont typeface="Arial"/>
              <a:buNone/>
            </a:pPr>
            <a:r>
              <a:rPr b="1" lang="tr" sz="1400">
                <a:latin typeface="Times New Roman"/>
                <a:ea typeface="Times New Roman"/>
                <a:cs typeface="Times New Roman"/>
                <a:sym typeface="Times New Roman"/>
              </a:rPr>
              <a:t>Berkay ÖNAL </a:t>
            </a:r>
            <a:endParaRPr b="1" sz="1400">
              <a:latin typeface="Times New Roman"/>
              <a:ea typeface="Times New Roman"/>
              <a:cs typeface="Times New Roman"/>
              <a:sym typeface="Times New Roman"/>
            </a:endParaRPr>
          </a:p>
          <a:p>
            <a:pPr indent="0" lvl="0" marL="0" rtl="0" algn="ctr">
              <a:lnSpc>
                <a:spcPct val="100000"/>
              </a:lnSpc>
              <a:spcBef>
                <a:spcPts val="1800"/>
              </a:spcBef>
              <a:spcAft>
                <a:spcPts val="0"/>
              </a:spcAft>
              <a:buClr>
                <a:schemeClr val="dk1"/>
              </a:buClr>
              <a:buSzPts val="1100"/>
              <a:buFont typeface="Arial"/>
              <a:buNone/>
            </a:pPr>
            <a:r>
              <a:rPr b="1" lang="tr" sz="1400">
                <a:latin typeface="Times New Roman"/>
                <a:ea typeface="Times New Roman"/>
                <a:cs typeface="Times New Roman"/>
                <a:sym typeface="Times New Roman"/>
              </a:rPr>
              <a:t>211805107</a:t>
            </a:r>
            <a:endParaRPr b="1" sz="1400">
              <a:latin typeface="Times New Roman"/>
              <a:ea typeface="Times New Roman"/>
              <a:cs typeface="Times New Roman"/>
              <a:sym typeface="Times New Roman"/>
            </a:endParaRPr>
          </a:p>
          <a:p>
            <a:pPr indent="0" lvl="0" marL="0" rtl="0" algn="ctr">
              <a:lnSpc>
                <a:spcPct val="100000"/>
              </a:lnSpc>
              <a:spcBef>
                <a:spcPts val="600"/>
              </a:spcBef>
              <a:spcAft>
                <a:spcPts val="0"/>
              </a:spcAft>
              <a:buNone/>
            </a:pPr>
            <a:r>
              <a:t/>
            </a:r>
            <a:endParaRPr/>
          </a:p>
        </p:txBody>
      </p:sp>
      <p:pic>
        <p:nvPicPr>
          <p:cNvPr id="55" name="Google Shape;55;p13" title="adu-logo.png"/>
          <p:cNvPicPr preferRelativeResize="0"/>
          <p:nvPr/>
        </p:nvPicPr>
        <p:blipFill>
          <a:blip r:embed="rId3">
            <a:alphaModFix/>
          </a:blip>
          <a:stretch>
            <a:fillRect/>
          </a:stretch>
        </p:blipFill>
        <p:spPr>
          <a:xfrm>
            <a:off x="3286400" y="472425"/>
            <a:ext cx="2681301" cy="26813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ÖZET</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sz="1200">
                <a:solidFill>
                  <a:schemeClr val="dk1"/>
                </a:solidFill>
                <a:latin typeface="Times New Roman"/>
                <a:ea typeface="Times New Roman"/>
                <a:cs typeface="Times New Roman"/>
                <a:sym typeface="Times New Roman"/>
              </a:rPr>
              <a:t>Nesnelerin İnterneti (IoT) cihazlarının yaygınlaşmasıyla birlikte, bu cihazları hedef alan siber saldırılar ve Botnet ağları ciddi bir tehdit haline gelmiştir. Bu proje kapsamında, saldırganların davranışlarını analiz etmek ve Tehdit İstihbaratı (Cyber Threat Intelligence) toplamak amacıyla Cowrie tabanlı bir orta-etkileşimli (medium-interaction) honeypot sistemi kurulmuştur.</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tr" sz="1200">
                <a:solidFill>
                  <a:schemeClr val="dk1"/>
                </a:solidFill>
                <a:latin typeface="Times New Roman"/>
                <a:ea typeface="Times New Roman"/>
                <a:cs typeface="Times New Roman"/>
                <a:sym typeface="Times New Roman"/>
              </a:rPr>
              <a:t>DigitalOcean üzerinde barındırılan sanal sunucu (VPS) üzerinde Docker konteyner mimarisi kullanılarak izole edilen sistem, dünya genelinden gelen saldırıları kayıt altına almıştır. Toplamda </a:t>
            </a:r>
            <a:r>
              <a:rPr b="1" lang="tr" sz="1200">
                <a:solidFill>
                  <a:schemeClr val="dk1"/>
                </a:solidFill>
                <a:latin typeface="Times New Roman"/>
                <a:ea typeface="Times New Roman"/>
                <a:cs typeface="Times New Roman"/>
                <a:sym typeface="Times New Roman"/>
              </a:rPr>
              <a:t>356.421</a:t>
            </a:r>
            <a:r>
              <a:rPr lang="tr" sz="1200">
                <a:solidFill>
                  <a:schemeClr val="dk1"/>
                </a:solidFill>
                <a:latin typeface="Times New Roman"/>
                <a:ea typeface="Times New Roman"/>
                <a:cs typeface="Times New Roman"/>
                <a:sym typeface="Times New Roman"/>
              </a:rPr>
              <a:t> adet saldırı girişimi loglanmış, bu veriler Python (Pandas, Matplotlib) kütüphaneleri kullanılarak analiz edilmiştir. Elde edilen bulgular, saldırıların %95'inin otomatize edilmiş Botnet yazılımları (Mirai, Gafgyt türevleri) tarafından gerçekleştirildiğini ve hedef odaklı olmaktan ziyade “scan-and-infect” stratejisi izlediğini ortaya koymuştur.</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1200"/>
              </a:spcAft>
              <a:buNone/>
            </a:pPr>
            <a:r>
              <a:t/>
            </a:r>
            <a:endParaRPr sz="12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GİRİŞ VE AMAÇ</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sz="1200">
                <a:solidFill>
                  <a:schemeClr val="dk1"/>
                </a:solidFill>
                <a:latin typeface="Times New Roman"/>
                <a:ea typeface="Times New Roman"/>
                <a:cs typeface="Times New Roman"/>
                <a:sym typeface="Times New Roman"/>
              </a:rPr>
              <a:t>Siber güvenlikte savunma stratejileri geliştirmenin en etkili yollarından biri, saldırganı tanımaktır. "Honeypot"  sistemleri, saldırganları tuzağa düşürmek, oyalama ve davranışlarını izlemek amacıyla kurulan sahte sistemlerdir.</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tr" sz="1200">
                <a:solidFill>
                  <a:schemeClr val="dk1"/>
                </a:solidFill>
                <a:latin typeface="Times New Roman"/>
                <a:ea typeface="Times New Roman"/>
                <a:cs typeface="Times New Roman"/>
                <a:sym typeface="Times New Roman"/>
              </a:rPr>
              <a:t>Bu projenin temel amaçları şunlardır:</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tr" sz="1200">
                <a:solidFill>
                  <a:schemeClr val="dk1"/>
                </a:solidFill>
                <a:latin typeface="Times New Roman"/>
                <a:ea typeface="Times New Roman"/>
                <a:cs typeface="Times New Roman"/>
                <a:sym typeface="Times New Roman"/>
              </a:rPr>
              <a:t>Gerçek bir saldırı yüzeyi oluşturarak siber saldırı verisi toplamak.</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tr" sz="1200">
                <a:solidFill>
                  <a:schemeClr val="dk1"/>
                </a:solidFill>
                <a:latin typeface="Times New Roman"/>
                <a:ea typeface="Times New Roman"/>
                <a:cs typeface="Times New Roman"/>
                <a:sym typeface="Times New Roman"/>
              </a:rPr>
              <a:t>Toplanan verileri analiz ederek saldırıların kaynağını (Coğrafi Analiz) belirlemek.</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tr" sz="1200">
                <a:solidFill>
                  <a:schemeClr val="dk1"/>
                </a:solidFill>
                <a:latin typeface="Times New Roman"/>
                <a:ea typeface="Times New Roman"/>
                <a:cs typeface="Times New Roman"/>
                <a:sym typeface="Times New Roman"/>
              </a:rPr>
              <a:t>Saldırganların kullandığı araçları (Tool Fingerprinting) ve teknikleri (TTPs) tespit etmek.</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lang="tr" sz="1200">
                <a:solidFill>
                  <a:schemeClr val="dk1"/>
                </a:solidFill>
                <a:latin typeface="Times New Roman"/>
                <a:ea typeface="Times New Roman"/>
                <a:cs typeface="Times New Roman"/>
                <a:sym typeface="Times New Roman"/>
              </a:rPr>
              <a:t>Elde edilen zararlı IP adreslerini (IOC) paylaşılabilir formata getirmek.</a:t>
            </a:r>
            <a:endParaRPr sz="12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SİSTEM MİMARİSİ VE KURULUM</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tr" sz="1200">
                <a:solidFill>
                  <a:schemeClr val="dk1"/>
                </a:solidFill>
                <a:latin typeface="Times New Roman"/>
                <a:ea typeface="Times New Roman"/>
                <a:cs typeface="Times New Roman"/>
                <a:sym typeface="Times New Roman"/>
              </a:rPr>
              <a:t>Proje kapsamında aşağıdaki teknoloji yığını kullanılmıştır:</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tr" sz="1200">
                <a:solidFill>
                  <a:schemeClr val="dk1"/>
                </a:solidFill>
                <a:latin typeface="Times New Roman"/>
                <a:ea typeface="Times New Roman"/>
                <a:cs typeface="Times New Roman"/>
                <a:sym typeface="Times New Roman"/>
              </a:rPr>
              <a:t>Sunucu Altyapısı</a:t>
            </a:r>
            <a:r>
              <a:rPr lang="tr" sz="1200">
                <a:solidFill>
                  <a:schemeClr val="dk1"/>
                </a:solidFill>
                <a:latin typeface="Times New Roman"/>
                <a:ea typeface="Times New Roman"/>
                <a:cs typeface="Times New Roman"/>
                <a:sym typeface="Times New Roman"/>
              </a:rPr>
              <a:t>: DigitalOcean VPS (Ubuntu 24.04 LTS).</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tr" sz="1200">
                <a:solidFill>
                  <a:schemeClr val="dk1"/>
                </a:solidFill>
                <a:latin typeface="Times New Roman"/>
                <a:ea typeface="Times New Roman"/>
                <a:cs typeface="Times New Roman"/>
                <a:sym typeface="Times New Roman"/>
              </a:rPr>
              <a:t>Sanallaştırma:</a:t>
            </a:r>
            <a:r>
              <a:rPr lang="tr" sz="1200">
                <a:solidFill>
                  <a:schemeClr val="dk1"/>
                </a:solidFill>
                <a:latin typeface="Times New Roman"/>
                <a:ea typeface="Times New Roman"/>
                <a:cs typeface="Times New Roman"/>
                <a:sym typeface="Times New Roman"/>
              </a:rPr>
              <a:t> Docker &amp; Docker Compose (İzolasyon güvenliği için).</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tr" sz="1200">
                <a:solidFill>
                  <a:schemeClr val="dk1"/>
                </a:solidFill>
                <a:latin typeface="Times New Roman"/>
                <a:ea typeface="Times New Roman"/>
                <a:cs typeface="Times New Roman"/>
                <a:sym typeface="Times New Roman"/>
              </a:rPr>
              <a:t>Honeypot Yazılımı:</a:t>
            </a:r>
            <a:r>
              <a:rPr lang="tr" sz="1200">
                <a:solidFill>
                  <a:schemeClr val="dk1"/>
                </a:solidFill>
                <a:latin typeface="Times New Roman"/>
                <a:ea typeface="Times New Roman"/>
                <a:cs typeface="Times New Roman"/>
                <a:sym typeface="Times New Roman"/>
              </a:rPr>
              <a:t> Cowrie (SSH ve Telnet protokollerini simüle eden Python tabanlı yazılım).</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b="1" lang="tr" sz="1200">
                <a:solidFill>
                  <a:schemeClr val="dk1"/>
                </a:solidFill>
                <a:latin typeface="Times New Roman"/>
                <a:ea typeface="Times New Roman"/>
                <a:cs typeface="Times New Roman"/>
                <a:sym typeface="Times New Roman"/>
              </a:rPr>
              <a:t>Veri Analizi:</a:t>
            </a:r>
            <a:r>
              <a:rPr lang="tr" sz="1200">
                <a:solidFill>
                  <a:schemeClr val="dk1"/>
                </a:solidFill>
                <a:latin typeface="Times New Roman"/>
                <a:ea typeface="Times New Roman"/>
                <a:cs typeface="Times New Roman"/>
                <a:sym typeface="Times New Roman"/>
              </a:rPr>
              <a:t> Python 3.12, Pandas (Veri İşleme), Matplotlib (Görselleştirme), Requests (GeoIP Zenginleştirme).</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1200"/>
              </a:spcAft>
              <a:buNone/>
            </a:pPr>
            <a:r>
              <a:t/>
            </a:r>
            <a:endParaRPr sz="12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AĞ KONFİGÜRASYONU</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tr" sz="1200">
                <a:solidFill>
                  <a:schemeClr val="dk1"/>
                </a:solidFill>
                <a:latin typeface="Times New Roman"/>
                <a:ea typeface="Times New Roman"/>
                <a:cs typeface="Times New Roman"/>
                <a:sym typeface="Times New Roman"/>
              </a:rPr>
              <a:t>Güvenliği sağlamak amacıyla sunucunun gerçek SSH portu 22222 olarak değiştirilmiş, varsayılan 22 numaralı port ise Honeypot konteynerine yönlendirilmiştir (-p 22:2222). Böylece saldırganlar gerçek sisteme erişemeden, izole edilmiş konteyner içerisine hapsedilmiştir.</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TEHDİT MODELİ (STRIDE ANALİZİ)</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tr" sz="1200">
                <a:solidFill>
                  <a:srgbClr val="000000"/>
                </a:solidFill>
                <a:latin typeface="Times New Roman"/>
                <a:ea typeface="Times New Roman"/>
                <a:cs typeface="Times New Roman"/>
                <a:sym typeface="Times New Roman"/>
              </a:rPr>
              <a:t>S (Spoofing)</a:t>
            </a:r>
            <a:endParaRPr b="1" sz="12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tr" sz="1200">
                <a:solidFill>
                  <a:srgbClr val="000000"/>
                </a:solidFill>
                <a:latin typeface="Times New Roman"/>
                <a:ea typeface="Times New Roman"/>
                <a:cs typeface="Times New Roman"/>
                <a:sym typeface="Times New Roman"/>
              </a:rPr>
              <a:t>Saldırganların IP adreslerini VPN/Proxy arkasına gizlediği gözlemlenmiştir. Ancak SSH anahtar parmak izi (HASSH) ile gerçek araç kimlikleri tespit edilmiştir.</a:t>
            </a:r>
            <a:endParaRPr sz="12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tr" sz="1200">
                <a:solidFill>
                  <a:srgbClr val="000000"/>
                </a:solidFill>
                <a:latin typeface="Times New Roman"/>
                <a:ea typeface="Times New Roman"/>
                <a:cs typeface="Times New Roman"/>
                <a:sym typeface="Times New Roman"/>
              </a:rPr>
              <a:t>T (Tampering)</a:t>
            </a:r>
            <a:endParaRPr b="1" sz="12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tr" sz="1200">
                <a:solidFill>
                  <a:srgbClr val="000000"/>
                </a:solidFill>
                <a:latin typeface="Times New Roman"/>
                <a:ea typeface="Times New Roman"/>
                <a:cs typeface="Times New Roman"/>
                <a:sym typeface="Times New Roman"/>
              </a:rPr>
              <a:t>Log dosyaları, konteyner dışında (host makinede) ve root yetkisiyle saklandığı için saldırganların delilleri silmesi engellenmiştir.</a:t>
            </a:r>
            <a:endParaRPr sz="12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tr" sz="1200">
                <a:solidFill>
                  <a:srgbClr val="000000"/>
                </a:solidFill>
                <a:latin typeface="Times New Roman"/>
                <a:ea typeface="Times New Roman"/>
                <a:cs typeface="Times New Roman"/>
                <a:sym typeface="Times New Roman"/>
              </a:rPr>
              <a:t>R (Repudiation)</a:t>
            </a:r>
            <a:endParaRPr b="1" sz="12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tr" sz="1200">
                <a:solidFill>
                  <a:srgbClr val="000000"/>
                </a:solidFill>
                <a:latin typeface="Times New Roman"/>
                <a:ea typeface="Times New Roman"/>
                <a:cs typeface="Times New Roman"/>
                <a:sym typeface="Times New Roman"/>
              </a:rPr>
              <a:t>Tüm oturumlar (Giriş saati, IP, Komutlar) zaman damgasıyla (timestamp) kaydedildiği için saldırganın eylemleri inkar edilemez hale getirilmiştir.</a:t>
            </a:r>
            <a:endParaRPr sz="12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tr" sz="1200">
                <a:solidFill>
                  <a:srgbClr val="000000"/>
                </a:solidFill>
                <a:latin typeface="Times New Roman"/>
                <a:ea typeface="Times New Roman"/>
                <a:cs typeface="Times New Roman"/>
                <a:sym typeface="Times New Roman"/>
              </a:rPr>
              <a:t>I (Info Disclosure)</a:t>
            </a:r>
            <a:endParaRPr b="1" sz="12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tr" sz="1200">
                <a:solidFill>
                  <a:srgbClr val="000000"/>
                </a:solidFill>
                <a:latin typeface="Times New Roman"/>
                <a:ea typeface="Times New Roman"/>
                <a:cs typeface="Times New Roman"/>
                <a:sym typeface="Times New Roman"/>
              </a:rPr>
              <a:t>Honeypot, saldırganlara sahte bir dosya sistemi (fake filesystem) sunarak sunucunun gerçek verilerinin ifşa olmasını önlemiştir.</a:t>
            </a:r>
            <a:endParaRPr sz="12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tr" sz="1200">
                <a:solidFill>
                  <a:srgbClr val="000000"/>
                </a:solidFill>
                <a:latin typeface="Times New Roman"/>
                <a:ea typeface="Times New Roman"/>
                <a:cs typeface="Times New Roman"/>
                <a:sym typeface="Times New Roman"/>
              </a:rPr>
              <a:t>D (DoS)</a:t>
            </a:r>
            <a:endParaRPr b="1" sz="12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tr" sz="1200">
                <a:solidFill>
                  <a:srgbClr val="000000"/>
                </a:solidFill>
                <a:latin typeface="Times New Roman"/>
                <a:ea typeface="Times New Roman"/>
                <a:cs typeface="Times New Roman"/>
                <a:sym typeface="Times New Roman"/>
              </a:rPr>
              <a:t>Docker kaynak sınırlamaları ile saldırganların sistemi aşırı yüklemesi (Denial of Service) engellenmiştir.</a:t>
            </a:r>
            <a:endParaRPr sz="12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tr" sz="1200">
                <a:solidFill>
                  <a:srgbClr val="000000"/>
                </a:solidFill>
                <a:latin typeface="Times New Roman"/>
                <a:ea typeface="Times New Roman"/>
                <a:cs typeface="Times New Roman"/>
                <a:sym typeface="Times New Roman"/>
              </a:rPr>
              <a:t>E (Elevation)</a:t>
            </a:r>
            <a:endParaRPr b="1" sz="1200">
              <a:solidFill>
                <a:srgbClr val="00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tr" sz="1200">
                <a:solidFill>
                  <a:srgbClr val="000000"/>
                </a:solidFill>
                <a:latin typeface="Times New Roman"/>
                <a:ea typeface="Times New Roman"/>
                <a:cs typeface="Times New Roman"/>
                <a:sym typeface="Times New Roman"/>
              </a:rPr>
              <a:t>Konteyner kaçışını (Docker Escape) önlemek için honeypot, yetkisiz (non-root) kullanıcı modunda çalıştırılmıştır.</a:t>
            </a:r>
            <a:endParaRPr sz="1200">
              <a:solidFill>
                <a:srgbClr val="000000"/>
              </a:solidFill>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600"/>
              </a:spcBef>
              <a:spcAft>
                <a:spcPts val="400"/>
              </a:spcAft>
              <a:buClr>
                <a:schemeClr val="dk1"/>
              </a:buClr>
              <a:buSzPts val="1100"/>
              <a:buFont typeface="Arial"/>
              <a:buNone/>
            </a:pPr>
            <a:r>
              <a:rPr b="1" lang="tr" sz="1400">
                <a:latin typeface="Times New Roman"/>
                <a:ea typeface="Times New Roman"/>
                <a:cs typeface="Times New Roman"/>
                <a:sym typeface="Times New Roman"/>
              </a:rPr>
              <a:t>COĞRAFİ SALDIRI DAĞILIMI</a:t>
            </a:r>
            <a:endParaRPr/>
          </a:p>
        </p:txBody>
      </p:sp>
      <p:pic>
        <p:nvPicPr>
          <p:cNvPr id="91" name="Google Shape;91;p19"/>
          <p:cNvPicPr preferRelativeResize="0"/>
          <p:nvPr/>
        </p:nvPicPr>
        <p:blipFill>
          <a:blip r:embed="rId3">
            <a:alphaModFix/>
          </a:blip>
          <a:stretch>
            <a:fillRect/>
          </a:stretch>
        </p:blipFill>
        <p:spPr>
          <a:xfrm>
            <a:off x="1334362" y="817550"/>
            <a:ext cx="6475275" cy="2537375"/>
          </a:xfrm>
          <a:prstGeom prst="rect">
            <a:avLst/>
          </a:prstGeom>
          <a:noFill/>
          <a:ln>
            <a:noFill/>
          </a:ln>
        </p:spPr>
      </p:pic>
      <p:sp>
        <p:nvSpPr>
          <p:cNvPr id="92" name="Google Shape;92;p19"/>
          <p:cNvSpPr txBox="1"/>
          <p:nvPr/>
        </p:nvSpPr>
        <p:spPr>
          <a:xfrm>
            <a:off x="429925" y="3657075"/>
            <a:ext cx="79302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tr" sz="1200">
                <a:solidFill>
                  <a:schemeClr val="dk1"/>
                </a:solidFill>
                <a:latin typeface="Times New Roman"/>
                <a:ea typeface="Times New Roman"/>
                <a:cs typeface="Times New Roman"/>
                <a:sym typeface="Times New Roman"/>
              </a:rPr>
              <a:t>Saldırıların büyük çoğunluğunun Hollanda, Singapur ve ABD gibi veri merkezlerinin (Data Center) yoğun olduğu ülkelerden gelmesi, saldırganların kimliklerini gizlemek için kiralık sunucuları veya ele geçirilmiş VPN noktalarını kullandığını göstermektedir</a:t>
            </a:r>
            <a:endParaRPr sz="1200">
              <a:solidFill>
                <a:schemeClr val="dk2"/>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ZAMANSAL DAVRANIŞ </a:t>
            </a:r>
            <a:endParaRPr/>
          </a:p>
        </p:txBody>
      </p:sp>
      <p:sp>
        <p:nvSpPr>
          <p:cNvPr id="98" name="Google Shape;98;p20"/>
          <p:cNvSpPr txBox="1"/>
          <p:nvPr>
            <p:ph idx="1" type="body"/>
          </p:nvPr>
        </p:nvSpPr>
        <p:spPr>
          <a:xfrm>
            <a:off x="311700" y="3916600"/>
            <a:ext cx="8520600" cy="97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tr" sz="1200">
                <a:solidFill>
                  <a:schemeClr val="dk1"/>
                </a:solidFill>
                <a:latin typeface="Times New Roman"/>
                <a:ea typeface="Times New Roman"/>
                <a:cs typeface="Times New Roman"/>
                <a:sym typeface="Times New Roman"/>
              </a:rPr>
              <a:t>Grafikteki dalgalanmaların insan uyku saatlerinden bağımsız olarak 7/24 devam etmesi ve belirli periyotlarda ani pikler yapması, bu saldırıların manuel değil, otomatize Botnet ağları tarafından gerçekleştirildiğinin en güçlü kanıtıdır</a:t>
            </a:r>
            <a:endParaRPr sz="1200">
              <a:latin typeface="Times New Roman"/>
              <a:ea typeface="Times New Roman"/>
              <a:cs typeface="Times New Roman"/>
              <a:sym typeface="Times New Roman"/>
            </a:endParaRPr>
          </a:p>
        </p:txBody>
      </p:sp>
      <p:pic>
        <p:nvPicPr>
          <p:cNvPr id="99" name="Google Shape;99;p20"/>
          <p:cNvPicPr preferRelativeResize="0"/>
          <p:nvPr/>
        </p:nvPicPr>
        <p:blipFill>
          <a:blip r:embed="rId3">
            <a:alphaModFix/>
          </a:blip>
          <a:stretch>
            <a:fillRect/>
          </a:stretch>
        </p:blipFill>
        <p:spPr>
          <a:xfrm>
            <a:off x="1220575" y="1067250"/>
            <a:ext cx="6592800" cy="2799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OTURUM SÜRESİ</a:t>
            </a:r>
            <a:endParaRPr/>
          </a:p>
        </p:txBody>
      </p:sp>
      <p:sp>
        <p:nvSpPr>
          <p:cNvPr id="105" name="Google Shape;105;p21"/>
          <p:cNvSpPr txBox="1"/>
          <p:nvPr>
            <p:ph idx="1" type="body"/>
          </p:nvPr>
        </p:nvSpPr>
        <p:spPr>
          <a:xfrm>
            <a:off x="311700" y="3991025"/>
            <a:ext cx="8669700" cy="10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tr" sz="1200">
                <a:solidFill>
                  <a:schemeClr val="dk1"/>
                </a:solidFill>
                <a:latin typeface="Times New Roman"/>
                <a:ea typeface="Times New Roman"/>
                <a:cs typeface="Times New Roman"/>
                <a:sym typeface="Times New Roman"/>
              </a:rPr>
              <a:t>Oturumların %90'ından fazlasının 0-10 saniye aralığında sürmesi, saldırıların "Vur-Kaç" (Hit-and-Run) taktiği ile yapıldığını gösterir. Botlar şifreyi dener, komut çalıştırır ve bağlantıyı keser. İnsan etkileşimi (uzun süreli oturum) oldukça düşüktür.</a:t>
            </a:r>
            <a:endParaRPr/>
          </a:p>
        </p:txBody>
      </p:sp>
      <p:pic>
        <p:nvPicPr>
          <p:cNvPr id="106" name="Google Shape;106;p21"/>
          <p:cNvPicPr preferRelativeResize="0"/>
          <p:nvPr/>
        </p:nvPicPr>
        <p:blipFill>
          <a:blip r:embed="rId3">
            <a:alphaModFix/>
          </a:blip>
          <a:stretch>
            <a:fillRect/>
          </a:stretch>
        </p:blipFill>
        <p:spPr>
          <a:xfrm>
            <a:off x="1625375" y="1017725"/>
            <a:ext cx="5893249" cy="2838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KİMLİK BİLGİLERİ VE KABA KUVVET</a:t>
            </a:r>
            <a:endParaRPr/>
          </a:p>
        </p:txBody>
      </p:sp>
      <p:sp>
        <p:nvSpPr>
          <p:cNvPr id="112" name="Google Shape;112;p22"/>
          <p:cNvSpPr txBox="1"/>
          <p:nvPr>
            <p:ph idx="1" type="body"/>
          </p:nvPr>
        </p:nvSpPr>
        <p:spPr>
          <a:xfrm>
            <a:off x="311700" y="3878025"/>
            <a:ext cx="8677500" cy="919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tr" sz="1200">
                <a:solidFill>
                  <a:schemeClr val="dk1"/>
                </a:solidFill>
                <a:latin typeface="Times New Roman"/>
                <a:ea typeface="Times New Roman"/>
                <a:cs typeface="Times New Roman"/>
                <a:sym typeface="Times New Roman"/>
              </a:rPr>
              <a:t>Saldırganlar admin, user gibi varsayılan kullanıcı adlarını ve 123456, password gibi zayıf şifreleri hedef almıştır. Bu durum, IoT cihazlarındaki fabrika çıkış şifrelerinin değiştirilmemesinin en büyük güvenlik açığı olduğunu doğrulamaktadır.</a:t>
            </a:r>
            <a:endParaRPr sz="1200">
              <a:latin typeface="Times New Roman"/>
              <a:ea typeface="Times New Roman"/>
              <a:cs typeface="Times New Roman"/>
              <a:sym typeface="Times New Roman"/>
            </a:endParaRPr>
          </a:p>
        </p:txBody>
      </p:sp>
      <p:pic>
        <p:nvPicPr>
          <p:cNvPr id="113" name="Google Shape;113;p22"/>
          <p:cNvPicPr preferRelativeResize="0"/>
          <p:nvPr/>
        </p:nvPicPr>
        <p:blipFill>
          <a:blip r:embed="rId3">
            <a:alphaModFix/>
          </a:blip>
          <a:stretch>
            <a:fillRect/>
          </a:stretch>
        </p:blipFill>
        <p:spPr>
          <a:xfrm>
            <a:off x="1465800" y="1152475"/>
            <a:ext cx="5943600" cy="2590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SALDIRI ARACI İMZASI</a:t>
            </a:r>
            <a:endParaRPr/>
          </a:p>
        </p:txBody>
      </p:sp>
      <p:sp>
        <p:nvSpPr>
          <p:cNvPr id="119" name="Google Shape;119;p23"/>
          <p:cNvSpPr txBox="1"/>
          <p:nvPr>
            <p:ph idx="1" type="body"/>
          </p:nvPr>
        </p:nvSpPr>
        <p:spPr>
          <a:xfrm>
            <a:off x="311700" y="4125775"/>
            <a:ext cx="8520600" cy="75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tr" sz="1200">
                <a:solidFill>
                  <a:schemeClr val="dk1"/>
                </a:solidFill>
                <a:latin typeface="Times New Roman"/>
                <a:ea typeface="Times New Roman"/>
                <a:cs typeface="Times New Roman"/>
                <a:sym typeface="Times New Roman"/>
              </a:rPr>
              <a:t>Saldırıların büyük bir kısmında Golang ve LibSSH kütüphanelerinin kullanıldığı görülmüştür. Normal kullanıcılar OpenSSH veya PuTTY kullanırken, saldırganların bu kütüphaneleri kullanması, saldırının arkasında Mirai veya Gafgyt tabanlı özel zararlı yazılımların olduğunu kanıtlar.</a:t>
            </a:r>
            <a:endParaRPr sz="1200">
              <a:latin typeface="Times New Roman"/>
              <a:ea typeface="Times New Roman"/>
              <a:cs typeface="Times New Roman"/>
              <a:sym typeface="Times New Roman"/>
            </a:endParaRPr>
          </a:p>
        </p:txBody>
      </p:sp>
      <p:pic>
        <p:nvPicPr>
          <p:cNvPr id="120" name="Google Shape;120;p23"/>
          <p:cNvPicPr preferRelativeResize="0"/>
          <p:nvPr/>
        </p:nvPicPr>
        <p:blipFill>
          <a:blip r:embed="rId3">
            <a:alphaModFix/>
          </a:blip>
          <a:stretch>
            <a:fillRect/>
          </a:stretch>
        </p:blipFill>
        <p:spPr>
          <a:xfrm>
            <a:off x="2806800" y="1157325"/>
            <a:ext cx="3901775" cy="2828850"/>
          </a:xfrm>
          <a:prstGeom prst="rect">
            <a:avLst/>
          </a:prstGeom>
          <a:noFill/>
          <a:ln>
            <a:noFill/>
          </a:ln>
        </p:spPr>
      </p:pic>
      <p:pic>
        <p:nvPicPr>
          <p:cNvPr id="121" name="Google Shape;121;p23"/>
          <p:cNvPicPr preferRelativeResize="0"/>
          <p:nvPr/>
        </p:nvPicPr>
        <p:blipFill>
          <a:blip r:embed="rId3">
            <a:alphaModFix/>
          </a:blip>
          <a:stretch>
            <a:fillRect/>
          </a:stretch>
        </p:blipFill>
        <p:spPr>
          <a:xfrm>
            <a:off x="2481112" y="1055825"/>
            <a:ext cx="4181775" cy="3031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KOMUT ANALİZİ</a:t>
            </a:r>
            <a:endParaRPr/>
          </a:p>
        </p:txBody>
      </p:sp>
      <p:sp>
        <p:nvSpPr>
          <p:cNvPr id="127" name="Google Shape;127;p24"/>
          <p:cNvSpPr txBox="1"/>
          <p:nvPr>
            <p:ph idx="1" type="body"/>
          </p:nvPr>
        </p:nvSpPr>
        <p:spPr>
          <a:xfrm>
            <a:off x="311700" y="3948150"/>
            <a:ext cx="8441700" cy="7707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Times New Roman"/>
              <a:buChar char="●"/>
            </a:pPr>
            <a:r>
              <a:rPr lang="tr" sz="1200">
                <a:solidFill>
                  <a:schemeClr val="dk1"/>
                </a:solidFill>
                <a:latin typeface="Times New Roman"/>
                <a:ea typeface="Times New Roman"/>
                <a:cs typeface="Times New Roman"/>
                <a:sym typeface="Times New Roman"/>
              </a:rPr>
              <a:t>uname -a ve /proc/cpuinfo: Botlar, bulaştıkları cihazın mimarisini (ARM, x86) öğrenerek uygun zararlı yazılımı indirmeye çalışmıştır.</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tr" sz="1200">
                <a:solidFill>
                  <a:schemeClr val="dk1"/>
                </a:solidFill>
                <a:latin typeface="Times New Roman"/>
                <a:ea typeface="Times New Roman"/>
                <a:cs typeface="Times New Roman"/>
                <a:sym typeface="Times New Roman"/>
              </a:rPr>
              <a:t>/dev/null: Komut çıktılarını gizlemek için kullanılmıştır.</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Char char="●"/>
            </a:pPr>
            <a:r>
              <a:rPr lang="tr" sz="1200">
                <a:solidFill>
                  <a:schemeClr val="dk1"/>
                </a:solidFill>
                <a:latin typeface="Times New Roman"/>
                <a:ea typeface="Times New Roman"/>
                <a:cs typeface="Times New Roman"/>
                <a:sym typeface="Times New Roman"/>
              </a:rPr>
              <a:t>ockr / docker: Saldırganların sistemde kripto para madenciliği yapmak veya Docker servislerini manipüle etmek için konteyner komutları denediği tespit edilmiştir.</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1200"/>
              </a:spcAft>
              <a:buNone/>
            </a:pPr>
            <a:r>
              <a:t/>
            </a:r>
            <a:endParaRPr sz="1200">
              <a:latin typeface="Times New Roman"/>
              <a:ea typeface="Times New Roman"/>
              <a:cs typeface="Times New Roman"/>
              <a:sym typeface="Times New Roman"/>
            </a:endParaRPr>
          </a:p>
        </p:txBody>
      </p:sp>
      <p:pic>
        <p:nvPicPr>
          <p:cNvPr id="128" name="Google Shape;128;p24"/>
          <p:cNvPicPr preferRelativeResize="0"/>
          <p:nvPr/>
        </p:nvPicPr>
        <p:blipFill>
          <a:blip r:embed="rId3">
            <a:alphaModFix/>
          </a:blip>
          <a:stretch>
            <a:fillRect/>
          </a:stretch>
        </p:blipFill>
        <p:spPr>
          <a:xfrm>
            <a:off x="1309000" y="948000"/>
            <a:ext cx="6288700" cy="3000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KRİPTOGRAFİK YETENEKLER</a:t>
            </a:r>
            <a:endParaRPr/>
          </a:p>
        </p:txBody>
      </p:sp>
      <p:sp>
        <p:nvSpPr>
          <p:cNvPr id="134" name="Google Shape;134;p25"/>
          <p:cNvSpPr txBox="1"/>
          <p:nvPr>
            <p:ph idx="1" type="body"/>
          </p:nvPr>
        </p:nvSpPr>
        <p:spPr>
          <a:xfrm>
            <a:off x="311700" y="3830125"/>
            <a:ext cx="8520600" cy="73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tr" sz="1200">
                <a:solidFill>
                  <a:schemeClr val="dk1"/>
                </a:solidFill>
                <a:latin typeface="Times New Roman"/>
                <a:ea typeface="Times New Roman"/>
                <a:cs typeface="Times New Roman"/>
                <a:sym typeface="Times New Roman"/>
              </a:rPr>
              <a:t>Saldırganların modern şifreleme algoritmalarını (curve25519 vb.) desteklemesi, kullanılan Botnet yazılımlarının güncel kütüphanelerle derlendiğini ve modern SSH sunucularını da hedef alabildiğini göstermektedir.</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1200"/>
              </a:spcAft>
              <a:buNone/>
            </a:pPr>
            <a:r>
              <a:t/>
            </a:r>
            <a:endParaRPr sz="1200">
              <a:latin typeface="Times New Roman"/>
              <a:ea typeface="Times New Roman"/>
              <a:cs typeface="Times New Roman"/>
              <a:sym typeface="Times New Roman"/>
            </a:endParaRPr>
          </a:p>
        </p:txBody>
      </p:sp>
      <p:pic>
        <p:nvPicPr>
          <p:cNvPr id="135" name="Google Shape;135;p25"/>
          <p:cNvPicPr preferRelativeResize="0"/>
          <p:nvPr/>
        </p:nvPicPr>
        <p:blipFill>
          <a:blip r:embed="rId3">
            <a:alphaModFix/>
          </a:blip>
          <a:stretch>
            <a:fillRect/>
          </a:stretch>
        </p:blipFill>
        <p:spPr>
          <a:xfrm>
            <a:off x="2213450" y="1017725"/>
            <a:ext cx="4654149" cy="2714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IOC PAYLAŞIMI</a:t>
            </a:r>
            <a:endParaRPr/>
          </a:p>
        </p:txBody>
      </p:sp>
      <p:sp>
        <p:nvSpPr>
          <p:cNvPr id="141" name="Google Shape;14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tr" sz="1200">
                <a:solidFill>
                  <a:schemeClr val="dk1"/>
                </a:solidFill>
                <a:latin typeface="Times New Roman"/>
                <a:ea typeface="Times New Roman"/>
                <a:cs typeface="Times New Roman"/>
                <a:sym typeface="Times New Roman"/>
              </a:rPr>
              <a:t>Proje çıktısı olarak, tespit edilen 1500+ benzersiz zararlı IP adresi ve bunların coğrafi bilgileri zararli_ip_raporu.csv dosyası haline getirilmiştir. Bu dosya, güvenlik duvarlarında (Firewall) engelleme listesi olarak veya SIEM sistemlerinde tehdit istihbaratı verisi olarak kullanılabilir.</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1200"/>
              </a:spcAft>
              <a:buNone/>
            </a:pPr>
            <a:r>
              <a:t/>
            </a:r>
            <a:endParaRPr sz="12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SONUÇ VE ÖNERİLER</a:t>
            </a:r>
            <a:endParaRPr/>
          </a:p>
        </p:txBody>
      </p:sp>
      <p:sp>
        <p:nvSpPr>
          <p:cNvPr id="147" name="Google Shape;147;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sz="1200">
                <a:solidFill>
                  <a:schemeClr val="dk1"/>
                </a:solidFill>
                <a:latin typeface="Times New Roman"/>
                <a:ea typeface="Times New Roman"/>
                <a:cs typeface="Times New Roman"/>
                <a:sym typeface="Times New Roman"/>
              </a:rPr>
              <a:t>Bu çalışma, internete açık IoT cihazlarının dakikalar içerisinde Botnet ağları tarafından keşfedildiğini ve saldırıya uğradığını deneysel olarak kanıtlamıştır. 350 binden fazla saldırı alınması, tehdidin boyutunu gözler önüne sermektedir.</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b="1" lang="tr" sz="1200">
                <a:solidFill>
                  <a:schemeClr val="dk1"/>
                </a:solidFill>
                <a:latin typeface="Times New Roman"/>
                <a:ea typeface="Times New Roman"/>
                <a:cs typeface="Times New Roman"/>
                <a:sym typeface="Times New Roman"/>
              </a:rPr>
              <a:t>Öneriler:</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b="1"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b="1" lang="tr" sz="1200">
                <a:solidFill>
                  <a:schemeClr val="dk1"/>
                </a:solidFill>
                <a:latin typeface="Times New Roman"/>
                <a:ea typeface="Times New Roman"/>
                <a:cs typeface="Times New Roman"/>
                <a:sym typeface="Times New Roman"/>
              </a:rPr>
              <a:t>Varsayılan Şifreler:</a:t>
            </a:r>
            <a:r>
              <a:rPr lang="tr" sz="1200">
                <a:solidFill>
                  <a:schemeClr val="dk1"/>
                </a:solidFill>
                <a:latin typeface="Times New Roman"/>
                <a:ea typeface="Times New Roman"/>
                <a:cs typeface="Times New Roman"/>
                <a:sym typeface="Times New Roman"/>
              </a:rPr>
              <a:t> IoT cihazlarının varsayılan şifreleri kurulum aşamasında mutlaka değiştirilmelidir.</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b="1" lang="tr" sz="1200">
                <a:solidFill>
                  <a:schemeClr val="dk1"/>
                </a:solidFill>
                <a:latin typeface="Times New Roman"/>
                <a:ea typeface="Times New Roman"/>
                <a:cs typeface="Times New Roman"/>
                <a:sym typeface="Times New Roman"/>
              </a:rPr>
              <a:t>Port Yönetimi</a:t>
            </a:r>
            <a:r>
              <a:rPr lang="tr" sz="1200">
                <a:solidFill>
                  <a:schemeClr val="dk1"/>
                </a:solidFill>
                <a:latin typeface="Times New Roman"/>
                <a:ea typeface="Times New Roman"/>
                <a:cs typeface="Times New Roman"/>
                <a:sym typeface="Times New Roman"/>
              </a:rPr>
              <a:t>: SSH (22) ve Telnet (23) portları internete doğrudan açılmamalı, VPN arkasında tutulmalıdır.</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b="1" lang="tr" sz="1200">
                <a:solidFill>
                  <a:schemeClr val="dk1"/>
                </a:solidFill>
                <a:latin typeface="Times New Roman"/>
                <a:ea typeface="Times New Roman"/>
                <a:cs typeface="Times New Roman"/>
                <a:sym typeface="Times New Roman"/>
              </a:rPr>
              <a:t>Fail2Ban Kullanımı:</a:t>
            </a:r>
            <a:r>
              <a:rPr lang="tr" sz="1200">
                <a:solidFill>
                  <a:schemeClr val="dk1"/>
                </a:solidFill>
                <a:latin typeface="Times New Roman"/>
                <a:ea typeface="Times New Roman"/>
                <a:cs typeface="Times New Roman"/>
                <a:sym typeface="Times New Roman"/>
              </a:rPr>
              <a:t> Tekrarlayan başarısız giriş denemelerini yapan IP adresleri otomatik olarak engellenmelidir.</a:t>
            </a:r>
            <a:endParaRPr sz="1200">
              <a:solidFill>
                <a:schemeClr val="dk1"/>
              </a:solidFill>
              <a:latin typeface="Times New Roman"/>
              <a:ea typeface="Times New Roman"/>
              <a:cs typeface="Times New Roman"/>
              <a:sym typeface="Times New Roman"/>
            </a:endParaRPr>
          </a:p>
          <a:p>
            <a:pPr indent="-304800" lvl="0" marL="457200" rtl="0" algn="l">
              <a:spcBef>
                <a:spcPts val="0"/>
              </a:spcBef>
              <a:spcAft>
                <a:spcPts val="0"/>
              </a:spcAft>
              <a:buClr>
                <a:schemeClr val="dk1"/>
              </a:buClr>
              <a:buSzPts val="1200"/>
              <a:buFont typeface="Times New Roman"/>
              <a:buAutoNum type="arabicPeriod"/>
            </a:pPr>
            <a:r>
              <a:rPr b="1" lang="tr" sz="1200">
                <a:solidFill>
                  <a:schemeClr val="dk1"/>
                </a:solidFill>
                <a:latin typeface="Times New Roman"/>
                <a:ea typeface="Times New Roman"/>
                <a:cs typeface="Times New Roman"/>
                <a:sym typeface="Times New Roman"/>
              </a:rPr>
              <a:t>Honeypot Kullanımı:</a:t>
            </a:r>
            <a:r>
              <a:rPr lang="tr" sz="1200">
                <a:solidFill>
                  <a:schemeClr val="dk1"/>
                </a:solidFill>
                <a:latin typeface="Times New Roman"/>
                <a:ea typeface="Times New Roman"/>
                <a:cs typeface="Times New Roman"/>
                <a:sym typeface="Times New Roman"/>
              </a:rPr>
              <a:t> Kurumlar, kendi ağlarına yönelik tehditleri erken tespit etmek için iç ağlarında benzer Honeypot sensörleri konumlandırmalıdır.</a:t>
            </a:r>
            <a:endParaRPr sz="1200">
              <a:solidFill>
                <a:schemeClr val="dk1"/>
              </a:solidFill>
              <a:latin typeface="Times New Roman"/>
              <a:ea typeface="Times New Roman"/>
              <a:cs typeface="Times New Roman"/>
              <a:sym typeface="Times New Roman"/>
            </a:endParaRPr>
          </a:p>
          <a:p>
            <a:pPr indent="0" lvl="0" marL="45720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tr" sz="1200">
                <a:solidFill>
                  <a:schemeClr val="dk1"/>
                </a:solidFill>
                <a:latin typeface="Times New Roman"/>
                <a:ea typeface="Times New Roman"/>
                <a:cs typeface="Times New Roman"/>
                <a:sym typeface="Times New Roman"/>
              </a:rPr>
              <a:t>GITHUB</a:t>
            </a:r>
            <a:r>
              <a:rPr lang="tr" sz="1200">
                <a:solidFill>
                  <a:schemeClr val="dk1"/>
                </a:solidFill>
                <a:latin typeface="Times New Roman"/>
                <a:ea typeface="Times New Roman"/>
                <a:cs typeface="Times New Roman"/>
                <a:sym typeface="Times New Roman"/>
              </a:rPr>
              <a:t>: </a:t>
            </a:r>
            <a:br>
              <a:rPr lang="tr" sz="1200">
                <a:solidFill>
                  <a:schemeClr val="dk1"/>
                </a:solidFill>
                <a:latin typeface="Times New Roman"/>
                <a:ea typeface="Times New Roman"/>
                <a:cs typeface="Times New Roman"/>
                <a:sym typeface="Times New Roman"/>
              </a:rPr>
            </a:br>
            <a:br>
              <a:rPr lang="tr" sz="1200">
                <a:solidFill>
                  <a:schemeClr val="dk1"/>
                </a:solidFill>
                <a:latin typeface="Times New Roman"/>
                <a:ea typeface="Times New Roman"/>
                <a:cs typeface="Times New Roman"/>
                <a:sym typeface="Times New Roman"/>
              </a:rPr>
            </a:br>
            <a:r>
              <a:rPr lang="tr" sz="1200">
                <a:solidFill>
                  <a:schemeClr val="dk1"/>
                </a:solidFill>
                <a:latin typeface="Times New Roman"/>
                <a:ea typeface="Times New Roman"/>
                <a:cs typeface="Times New Roman"/>
                <a:sym typeface="Times New Roman"/>
              </a:rPr>
              <a:t>https://github.com/Bekto39/honeypot</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1200"/>
              </a:spcAft>
              <a:buNone/>
            </a:pPr>
            <a:r>
              <a:t/>
            </a:r>
            <a:endParaRPr sz="12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